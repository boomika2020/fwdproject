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c5582ba8a9_0_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g3c5582ba8a9_0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c5582ba8a9_0_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g3c5582ba8a9_0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5" name="Shape 15"/>
        <p:cNvGrpSpPr/>
        <p:nvPr/>
      </p:nvGrpSpPr>
      <p:grpSpPr>
        <a:xfrm>
          <a:off x="0" y="0"/>
          <a:ext cx="0" cy="0"/>
          <a:chOff x="0" y="0"/>
          <a:chExt cx="0" cy="0"/>
        </a:xfrm>
      </p:grpSpPr>
      <p:sp>
        <p:nvSpPr>
          <p:cNvPr id="16" name="Google Shape;16;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8" name="Google Shape;28;p3"/>
          <p:cNvSpPr/>
          <p:nvPr/>
        </p:nvSpPr>
        <p:spPr>
          <a:xfrm>
            <a:off x="87228" y="60325"/>
            <a:ext cx="1532022" cy="620712"/>
          </a:xfrm>
          <a:prstGeom prst="rect">
            <a:avLst/>
          </a:prstGeom>
          <a:blipFill rotWithShape="1">
            <a:blip r:embed="rId2">
              <a:alphaModFix amt="78101"/>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9" name="Shape 29"/>
        <p:cNvGrpSpPr/>
        <p:nvPr/>
      </p:nvGrpSpPr>
      <p:grpSpPr>
        <a:xfrm>
          <a:off x="0" y="0"/>
          <a:ext cx="0" cy="0"/>
          <a:chOff x="0" y="0"/>
          <a:chExt cx="0" cy="0"/>
        </a:xfrm>
      </p:grpSpPr>
      <p:sp>
        <p:nvSpPr>
          <p:cNvPr id="30" name="Google Shape;30;p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2" name="Google Shape;32;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5" name="Shape 35"/>
        <p:cNvGrpSpPr/>
        <p:nvPr/>
      </p:nvGrpSpPr>
      <p:grpSpPr>
        <a:xfrm>
          <a:off x="0" y="0"/>
          <a:ext cx="0" cy="0"/>
          <a:chOff x="0" y="0"/>
          <a:chExt cx="0" cy="0"/>
        </a:xfrm>
      </p:grpSpPr>
      <p:sp>
        <p:nvSpPr>
          <p:cNvPr id="36" name="Google Shape;36;p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8" name="Google Shape;38;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4" name="Google Shape;44;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
        <p:nvSpPr>
          <p:cNvPr id="56" name="Google Shape;56;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2" name="Google Shape;62;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10"/>
          <p:cNvSpPr/>
          <p:nvPr>
            <p:ph idx="2" type="pic"/>
          </p:nvPr>
        </p:nvSpPr>
        <p:spPr>
          <a:xfrm>
            <a:off x="5183188" y="987425"/>
            <a:ext cx="6172200" cy="4873625"/>
          </a:xfrm>
          <a:prstGeom prst="rect">
            <a:avLst/>
          </a:prstGeom>
          <a:noFill/>
          <a:ln>
            <a:noFill/>
          </a:ln>
        </p:spPr>
      </p:sp>
      <p:sp>
        <p:nvSpPr>
          <p:cNvPr id="69" name="Google Shape;69;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3"/>
          <p:cNvSpPr txBox="1"/>
          <p:nvPr>
            <p:ph type="title"/>
          </p:nvPr>
        </p:nvSpPr>
        <p:spPr>
          <a:xfrm>
            <a:off x="494057" y="136525"/>
            <a:ext cx="11543614" cy="112838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70C0"/>
              </a:buClr>
              <a:buSzPts val="2400"/>
              <a:buFont typeface="Calibri"/>
              <a:buNone/>
            </a:pPr>
            <a:r>
              <a:rPr lang="en-US" sz="2400">
                <a:solidFill>
                  <a:srgbClr val="0070C0"/>
                </a:solidFill>
                <a:latin typeface="Calibri"/>
                <a:ea typeface="Calibri"/>
                <a:cs typeface="Calibri"/>
                <a:sym typeface="Calibri"/>
              </a:rPr>
              <a:t>Title: </a:t>
            </a:r>
            <a:r>
              <a:rPr lang="en-US" sz="2400">
                <a:solidFill>
                  <a:srgbClr val="0070C0"/>
                </a:solidFill>
              </a:rPr>
              <a:t>Hospital Resource Scheduling Management System</a:t>
            </a:r>
            <a:endParaRPr sz="2400">
              <a:solidFill>
                <a:srgbClr val="FF0000"/>
              </a:solidFill>
              <a:latin typeface="Calibri"/>
              <a:ea typeface="Calibri"/>
              <a:cs typeface="Calibri"/>
              <a:sym typeface="Calibri"/>
            </a:endParaRPr>
          </a:p>
        </p:txBody>
      </p:sp>
      <p:sp>
        <p:nvSpPr>
          <p:cNvPr id="90" name="Google Shape;90;p13"/>
          <p:cNvSpPr txBox="1"/>
          <p:nvPr>
            <p:ph idx="1" type="body"/>
          </p:nvPr>
        </p:nvSpPr>
        <p:spPr>
          <a:xfrm>
            <a:off x="838200" y="1150130"/>
            <a:ext cx="10515600" cy="1097555"/>
          </a:xfrm>
          <a:prstGeom prst="rect">
            <a:avLst/>
          </a:prstGeom>
          <a:noFill/>
          <a:ln>
            <a:noFill/>
          </a:ln>
        </p:spPr>
        <p:txBody>
          <a:bodyPr anchorCtr="0" anchor="t" bIns="45700" lIns="91425" spcFirstLastPara="1" rIns="91425" wrap="square" tIns="45700">
            <a:normAutofit fontScale="25000" lnSpcReduction="20000"/>
          </a:bodyPr>
          <a:lstStyle/>
          <a:p>
            <a:pPr indent="0" lvl="0" marL="0" rtl="0" algn="ctr">
              <a:lnSpc>
                <a:spcPct val="90000"/>
              </a:lnSpc>
              <a:spcBef>
                <a:spcPts val="0"/>
              </a:spcBef>
              <a:spcAft>
                <a:spcPts val="0"/>
              </a:spcAft>
              <a:buClr>
                <a:schemeClr val="dk1"/>
              </a:buClr>
              <a:buSzPct val="100000"/>
              <a:buNone/>
            </a:pPr>
            <a:r>
              <a:rPr lang="en-US" sz="9600"/>
              <a:t>Student Name: G Boomika Sre</a:t>
            </a:r>
            <a:endParaRPr/>
          </a:p>
          <a:p>
            <a:pPr indent="0" lvl="0" marL="0" rtl="0" algn="ctr">
              <a:lnSpc>
                <a:spcPct val="90000"/>
              </a:lnSpc>
              <a:spcBef>
                <a:spcPts val="1000"/>
              </a:spcBef>
              <a:spcAft>
                <a:spcPts val="0"/>
              </a:spcAft>
              <a:buClr>
                <a:schemeClr val="dk1"/>
              </a:buClr>
              <a:buSzPct val="100000"/>
              <a:buNone/>
            </a:pPr>
            <a:r>
              <a:rPr lang="en-US" sz="9600"/>
              <a:t>Student ID: 2520030010</a:t>
            </a:r>
            <a:endParaRPr sz="2400"/>
          </a:p>
          <a:p>
            <a:pPr indent="0" lvl="0" marL="0" rtl="0" algn="ctr">
              <a:lnSpc>
                <a:spcPct val="90000"/>
              </a:lnSpc>
              <a:spcBef>
                <a:spcPts val="1000"/>
              </a:spcBef>
              <a:spcAft>
                <a:spcPts val="0"/>
              </a:spcAft>
              <a:buClr>
                <a:schemeClr val="dk1"/>
              </a:buClr>
              <a:buSzPct val="100000"/>
              <a:buNone/>
            </a:pPr>
            <a:r>
              <a:rPr lang="en-US" sz="11200"/>
              <a:t>Cluster: 2</a:t>
            </a:r>
            <a:endParaRPr/>
          </a:p>
          <a:p>
            <a:pPr indent="0" lvl="0" marL="0" rtl="0" algn="ctr">
              <a:lnSpc>
                <a:spcPct val="90000"/>
              </a:lnSpc>
              <a:spcBef>
                <a:spcPts val="1000"/>
              </a:spcBef>
              <a:spcAft>
                <a:spcPts val="0"/>
              </a:spcAft>
              <a:buClr>
                <a:schemeClr val="dk1"/>
              </a:buClr>
              <a:buSzPct val="100000"/>
              <a:buNone/>
            </a:pPr>
            <a:r>
              <a:rPr lang="en-US" sz="11200"/>
              <a:t>Section: 6</a:t>
            </a:r>
            <a:endParaRPr/>
          </a:p>
        </p:txBody>
      </p:sp>
      <p:pic>
        <p:nvPicPr>
          <p:cNvPr descr="A picture containing shape&#10;&#10;Description automatically generated" id="91" name="Google Shape;91;p13"/>
          <p:cNvPicPr preferRelativeResize="0"/>
          <p:nvPr/>
        </p:nvPicPr>
        <p:blipFill rotWithShape="1">
          <a:blip r:embed="rId3">
            <a:alphaModFix/>
          </a:blip>
          <a:srcRect b="0" l="0" r="0" t="0"/>
          <a:stretch/>
        </p:blipFill>
        <p:spPr>
          <a:xfrm>
            <a:off x="5356361" y="5015918"/>
            <a:ext cx="1725712" cy="930978"/>
          </a:xfrm>
          <a:prstGeom prst="rect">
            <a:avLst/>
          </a:prstGeom>
          <a:noFill/>
          <a:ln>
            <a:noFill/>
          </a:ln>
        </p:spPr>
      </p:pic>
      <p:sp>
        <p:nvSpPr>
          <p:cNvPr id="92" name="Google Shape;92;p13"/>
          <p:cNvSpPr txBox="1"/>
          <p:nvPr/>
        </p:nvSpPr>
        <p:spPr>
          <a:xfrm>
            <a:off x="838200" y="3332480"/>
            <a:ext cx="11199471" cy="1571945"/>
          </a:xfrm>
          <a:prstGeom prst="rect">
            <a:avLst/>
          </a:prstGeom>
          <a:noFill/>
          <a:ln>
            <a:noFill/>
          </a:ln>
        </p:spPr>
        <p:txBody>
          <a:bodyPr anchorCtr="0" anchor="t" bIns="45700" lIns="91425" spcFirstLastPara="1" rIns="91425" wrap="square" tIns="45700">
            <a:normAutofit fontScale="25000" lnSpcReduction="20000"/>
          </a:bodyPr>
          <a:lstStyle/>
          <a:p>
            <a:pPr indent="0" lvl="0" marL="0" marR="0" rtl="0" algn="ctr">
              <a:lnSpc>
                <a:spcPct val="90000"/>
              </a:lnSpc>
              <a:spcBef>
                <a:spcPts val="0"/>
              </a:spcBef>
              <a:spcAft>
                <a:spcPts val="0"/>
              </a:spcAft>
              <a:buClr>
                <a:schemeClr val="dk1"/>
              </a:buClr>
              <a:buSzPct val="100000"/>
              <a:buFont typeface="Arial"/>
              <a:buNone/>
            </a:pPr>
            <a:r>
              <a:rPr b="0" i="0" lang="en-US" sz="8600" u="none" cap="none" strike="noStrike">
                <a:solidFill>
                  <a:schemeClr val="dk1"/>
                </a:solidFill>
                <a:latin typeface="Calibri"/>
                <a:ea typeface="Calibri"/>
                <a:cs typeface="Calibri"/>
                <a:sym typeface="Calibri"/>
              </a:rPr>
              <a:t>Under the Guidance </a:t>
            </a:r>
            <a:endParaRPr/>
          </a:p>
          <a:p>
            <a:pPr indent="0" lvl="0" marL="0" marR="0" rtl="0" algn="ctr">
              <a:lnSpc>
                <a:spcPct val="90000"/>
              </a:lnSpc>
              <a:spcBef>
                <a:spcPts val="1000"/>
              </a:spcBef>
              <a:spcAft>
                <a:spcPts val="0"/>
              </a:spcAft>
              <a:buClr>
                <a:schemeClr val="dk1"/>
              </a:buClr>
              <a:buSzPct val="100000"/>
              <a:buFont typeface="Arial"/>
              <a:buNone/>
            </a:pPr>
            <a:r>
              <a:rPr b="0" i="0" lang="en-US" sz="8600" u="none" cap="none" strike="noStrike">
                <a:solidFill>
                  <a:schemeClr val="dk1"/>
                </a:solidFill>
                <a:latin typeface="Calibri"/>
                <a:ea typeface="Calibri"/>
                <a:cs typeface="Calibri"/>
                <a:sym typeface="Calibri"/>
              </a:rPr>
              <a:t>of </a:t>
            </a:r>
            <a:endParaRPr b="0" i="0" sz="8600" u="none" cap="none" strike="noStrike">
              <a:solidFill>
                <a:srgbClr val="00B050"/>
              </a:solidFill>
              <a:latin typeface="Calibri"/>
              <a:ea typeface="Calibri"/>
              <a:cs typeface="Calibri"/>
              <a:sym typeface="Calibri"/>
            </a:endParaRPr>
          </a:p>
          <a:p>
            <a:pPr indent="0" lvl="0" marL="0" marR="0" rtl="0" algn="ctr">
              <a:lnSpc>
                <a:spcPct val="90000"/>
              </a:lnSpc>
              <a:spcBef>
                <a:spcPts val="1000"/>
              </a:spcBef>
              <a:spcAft>
                <a:spcPts val="0"/>
              </a:spcAft>
              <a:buClr>
                <a:srgbClr val="00B050"/>
              </a:buClr>
              <a:buSzPct val="100000"/>
              <a:buFont typeface="Arial"/>
              <a:buNone/>
            </a:pPr>
            <a:r>
              <a:rPr b="0" i="0" lang="en-US" sz="8600" u="none" cap="none" strike="noStrike">
                <a:solidFill>
                  <a:srgbClr val="00B050"/>
                </a:solidFill>
                <a:latin typeface="Calibri"/>
                <a:ea typeface="Calibri"/>
                <a:cs typeface="Calibri"/>
                <a:sym typeface="Calibri"/>
              </a:rPr>
              <a:t>Supervisor Name: </a:t>
            </a:r>
            <a:r>
              <a:rPr lang="en-US" sz="8600">
                <a:solidFill>
                  <a:srgbClr val="00B050"/>
                </a:solidFill>
                <a:latin typeface="Calibri"/>
                <a:ea typeface="Calibri"/>
                <a:cs typeface="Calibri"/>
                <a:sym typeface="Calibri"/>
              </a:rPr>
              <a:t>N. M Deepika</a:t>
            </a:r>
            <a:endParaRPr b="0" i="0" sz="8600" u="none" cap="none" strike="noStrike">
              <a:solidFill>
                <a:srgbClr val="00B050"/>
              </a:solidFill>
              <a:latin typeface="Calibri"/>
              <a:ea typeface="Calibri"/>
              <a:cs typeface="Calibri"/>
              <a:sym typeface="Calibri"/>
            </a:endParaRPr>
          </a:p>
          <a:p>
            <a:pPr indent="0" lvl="0" marL="0" marR="0" rtl="0" algn="ctr">
              <a:lnSpc>
                <a:spcPct val="90000"/>
              </a:lnSpc>
              <a:spcBef>
                <a:spcPts val="1000"/>
              </a:spcBef>
              <a:spcAft>
                <a:spcPts val="0"/>
              </a:spcAft>
              <a:buClr>
                <a:srgbClr val="00B050"/>
              </a:buClr>
              <a:buSzPct val="100000"/>
              <a:buFont typeface="Arial"/>
              <a:buNone/>
            </a:pPr>
            <a:r>
              <a:rPr b="0" i="0" lang="en-US" sz="8600" u="none" cap="none" strike="noStrike">
                <a:solidFill>
                  <a:srgbClr val="00B050"/>
                </a:solidFill>
                <a:latin typeface="Calibri"/>
                <a:ea typeface="Calibri"/>
                <a:cs typeface="Calibri"/>
                <a:sym typeface="Calibri"/>
              </a:rPr>
              <a:t>Assistant Professor</a:t>
            </a:r>
            <a:endParaRPr/>
          </a:p>
          <a:p>
            <a:pPr indent="0" lvl="0" marL="0" marR="0" rtl="0" algn="ctr">
              <a:lnSpc>
                <a:spcPct val="90000"/>
              </a:lnSpc>
              <a:spcBef>
                <a:spcPts val="1000"/>
              </a:spcBef>
              <a:spcAft>
                <a:spcPts val="0"/>
              </a:spcAft>
              <a:buClr>
                <a:srgbClr val="00B050"/>
              </a:buClr>
              <a:buSzPct val="100000"/>
              <a:buFont typeface="Arial"/>
              <a:buNone/>
            </a:pPr>
            <a:r>
              <a:rPr b="0" i="0" lang="en-US" sz="8600" u="none" cap="none" strike="noStrike">
                <a:solidFill>
                  <a:srgbClr val="00B050"/>
                </a:solidFill>
                <a:latin typeface="Calibri"/>
                <a:ea typeface="Calibri"/>
                <a:cs typeface="Calibri"/>
                <a:sym typeface="Calibri"/>
              </a:rPr>
              <a:t>Department of CSE</a:t>
            </a:r>
            <a:endParaRPr/>
          </a:p>
          <a:p>
            <a:pPr indent="0" lvl="0" marL="0" marR="0" rtl="0" algn="l">
              <a:lnSpc>
                <a:spcPct val="90000"/>
              </a:lnSpc>
              <a:spcBef>
                <a:spcPts val="1000"/>
              </a:spcBef>
              <a:spcAft>
                <a:spcPts val="0"/>
              </a:spcAft>
              <a:buClr>
                <a:schemeClr val="dk1"/>
              </a:buClr>
              <a:buSzPct val="100000"/>
              <a:buFont typeface="Arial"/>
              <a:buNone/>
            </a:pPr>
            <a:r>
              <a:t/>
            </a:r>
            <a:endParaRPr b="0" i="0" sz="2400" u="none" cap="none" strike="noStrike">
              <a:solidFill>
                <a:srgbClr val="00B050"/>
              </a:solidFill>
              <a:latin typeface="Calibri"/>
              <a:ea typeface="Calibri"/>
              <a:cs typeface="Calibri"/>
              <a:sym typeface="Calibri"/>
            </a:endParaRPr>
          </a:p>
        </p:txBody>
      </p:sp>
      <p:sp>
        <p:nvSpPr>
          <p:cNvPr id="93" name="Google Shape;93;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4"/>
          <p:cNvSpPr txBox="1"/>
          <p:nvPr>
            <p:ph type="title"/>
          </p:nvPr>
        </p:nvSpPr>
        <p:spPr>
          <a:xfrm>
            <a:off x="1180618" y="365125"/>
            <a:ext cx="10173182" cy="112800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Abstract</a:t>
            </a:r>
            <a:endParaRPr/>
          </a:p>
        </p:txBody>
      </p:sp>
      <p:sp>
        <p:nvSpPr>
          <p:cNvPr id="99" name="Google Shape;99;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500"/>
              <a:buNone/>
            </a:pPr>
            <a:r>
              <a:rPr lang="en-US" sz="2500">
                <a:latin typeface="Times New Roman"/>
                <a:ea typeface="Times New Roman"/>
                <a:cs typeface="Times New Roman"/>
                <a:sym typeface="Times New Roman"/>
              </a:rPr>
              <a:t>The Hospital Resource Scheduling Management System is a web-based application developed to simplify patient appointment scheduling and hospital resource management. It provides an interactive dashboard that allows staff to manage patient bookings, assign doctors, monitor critical resources such as ICU beds and ventilators, and track hospital capacity in real time. The system is built using HTML, CSS, and JavaScript, ensuring a structured design and responsive user interface. By reducing manual effort and improving operational coordination, the application demonstrates how modern web technologies can efficiently support hospital management processes.</a:t>
            </a:r>
            <a:endParaRPr sz="2500">
              <a:latin typeface="Times New Roman"/>
              <a:ea typeface="Times New Roman"/>
              <a:cs typeface="Times New Roman"/>
              <a:sym typeface="Times New Roman"/>
            </a:endParaRPr>
          </a:p>
        </p:txBody>
      </p:sp>
      <p:sp>
        <p:nvSpPr>
          <p:cNvPr id="100" name="Google Shape;100;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173030211           Department of CSE</a:t>
            </a:r>
            <a:endParaRPr/>
          </a:p>
        </p:txBody>
      </p:sp>
      <p:sp>
        <p:nvSpPr>
          <p:cNvPr id="101" name="Google Shape;101;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5"/>
          <p:cNvSpPr txBox="1"/>
          <p:nvPr>
            <p:ph type="title"/>
          </p:nvPr>
        </p:nvSpPr>
        <p:spPr>
          <a:xfrm>
            <a:off x="1180618" y="365125"/>
            <a:ext cx="10173182" cy="112800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Existing System </a:t>
            </a:r>
            <a:endParaRPr/>
          </a:p>
        </p:txBody>
      </p:sp>
      <p:sp>
        <p:nvSpPr>
          <p:cNvPr id="107" name="Google Shape;107;p15"/>
          <p:cNvSpPr txBox="1"/>
          <p:nvPr>
            <p:ph idx="1" type="body"/>
          </p:nvPr>
        </p:nvSpPr>
        <p:spPr>
          <a:xfrm>
            <a:off x="838200" y="1493134"/>
            <a:ext cx="10515600" cy="4351338"/>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115000"/>
              </a:lnSpc>
              <a:spcBef>
                <a:spcPts val="1200"/>
              </a:spcBef>
              <a:spcAft>
                <a:spcPts val="0"/>
              </a:spcAft>
              <a:buClr>
                <a:schemeClr val="dk1"/>
              </a:buClr>
              <a:buSzPts val="275"/>
              <a:buFont typeface="Arial"/>
              <a:buNone/>
            </a:pPr>
            <a:r>
              <a:rPr lang="en-US" sz="10000">
                <a:latin typeface="Times New Roman"/>
                <a:ea typeface="Times New Roman"/>
                <a:cs typeface="Times New Roman"/>
                <a:sym typeface="Times New Roman"/>
              </a:rPr>
              <a:t>Currently, many hospitals rely on:</a:t>
            </a:r>
            <a:endParaRPr sz="100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275"/>
              <a:buFont typeface="Arial"/>
              <a:buNone/>
            </a:pPr>
            <a:r>
              <a:rPr lang="en-US" sz="10000">
                <a:latin typeface="Times New Roman"/>
                <a:ea typeface="Times New Roman"/>
                <a:cs typeface="Times New Roman"/>
                <a:sym typeface="Times New Roman"/>
              </a:rPr>
              <a:t>• Manual appointment registers</a:t>
            </a:r>
            <a:br>
              <a:rPr lang="en-US" sz="10000">
                <a:latin typeface="Times New Roman"/>
                <a:ea typeface="Times New Roman"/>
                <a:cs typeface="Times New Roman"/>
                <a:sym typeface="Times New Roman"/>
              </a:rPr>
            </a:br>
            <a:r>
              <a:rPr lang="en-US" sz="10000">
                <a:latin typeface="Times New Roman"/>
                <a:ea typeface="Times New Roman"/>
                <a:cs typeface="Times New Roman"/>
                <a:sym typeface="Times New Roman"/>
              </a:rPr>
              <a:t> • Separate systems for scheduling and resource management</a:t>
            </a:r>
            <a:br>
              <a:rPr lang="en-US" sz="10000">
                <a:latin typeface="Times New Roman"/>
                <a:ea typeface="Times New Roman"/>
                <a:cs typeface="Times New Roman"/>
                <a:sym typeface="Times New Roman"/>
              </a:rPr>
            </a:br>
            <a:r>
              <a:rPr lang="en-US" sz="10000">
                <a:latin typeface="Times New Roman"/>
                <a:ea typeface="Times New Roman"/>
                <a:cs typeface="Times New Roman"/>
                <a:sym typeface="Times New Roman"/>
              </a:rPr>
              <a:t> • Phone-based booking systems</a:t>
            </a:r>
            <a:br>
              <a:rPr lang="en-US" sz="10000">
                <a:latin typeface="Times New Roman"/>
                <a:ea typeface="Times New Roman"/>
                <a:cs typeface="Times New Roman"/>
                <a:sym typeface="Times New Roman"/>
              </a:rPr>
            </a:br>
            <a:r>
              <a:rPr lang="en-US" sz="10000">
                <a:latin typeface="Times New Roman"/>
                <a:ea typeface="Times New Roman"/>
                <a:cs typeface="Times New Roman"/>
                <a:sym typeface="Times New Roman"/>
              </a:rPr>
              <a:t> • Delayed emergency handling</a:t>
            </a:r>
            <a:br>
              <a:rPr lang="en-US" sz="10000">
                <a:latin typeface="Times New Roman"/>
                <a:ea typeface="Times New Roman"/>
                <a:cs typeface="Times New Roman"/>
                <a:sym typeface="Times New Roman"/>
              </a:rPr>
            </a:br>
            <a:r>
              <a:rPr lang="en-US" sz="10000">
                <a:latin typeface="Times New Roman"/>
                <a:ea typeface="Times New Roman"/>
                <a:cs typeface="Times New Roman"/>
                <a:sym typeface="Times New Roman"/>
              </a:rPr>
              <a:t> • No real-time resource utilization tracking</a:t>
            </a:r>
            <a:endParaRPr sz="10000">
              <a:latin typeface="Times New Roman"/>
              <a:ea typeface="Times New Roman"/>
              <a:cs typeface="Times New Roman"/>
              <a:sym typeface="Times New Roman"/>
            </a:endParaRPr>
          </a:p>
          <a:p>
            <a:pPr indent="0" lvl="0" marL="0" rtl="0" algn="l">
              <a:lnSpc>
                <a:spcPct val="115000"/>
              </a:lnSpc>
              <a:spcBef>
                <a:spcPts val="1400"/>
              </a:spcBef>
              <a:spcAft>
                <a:spcPts val="0"/>
              </a:spcAft>
              <a:buClr>
                <a:schemeClr val="dk1"/>
              </a:buClr>
              <a:buSzPts val="275"/>
              <a:buFont typeface="Arial"/>
              <a:buNone/>
            </a:pPr>
            <a:r>
              <a:rPr b="1" lang="en-US" sz="10000">
                <a:latin typeface="Times New Roman"/>
                <a:ea typeface="Times New Roman"/>
                <a:cs typeface="Times New Roman"/>
                <a:sym typeface="Times New Roman"/>
              </a:rPr>
              <a:t>Limitations:</a:t>
            </a:r>
            <a:endParaRPr b="1" sz="100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275"/>
              <a:buFont typeface="Arial"/>
              <a:buNone/>
            </a:pPr>
            <a:r>
              <a:rPr lang="en-US" sz="10000">
                <a:latin typeface="Times New Roman"/>
                <a:ea typeface="Times New Roman"/>
                <a:cs typeface="Times New Roman"/>
                <a:sym typeface="Times New Roman"/>
              </a:rPr>
              <a:t>• Time-consuming processes</a:t>
            </a:r>
            <a:br>
              <a:rPr lang="en-US" sz="10000">
                <a:latin typeface="Times New Roman"/>
                <a:ea typeface="Times New Roman"/>
                <a:cs typeface="Times New Roman"/>
                <a:sym typeface="Times New Roman"/>
              </a:rPr>
            </a:br>
            <a:r>
              <a:rPr lang="en-US" sz="10000">
                <a:latin typeface="Times New Roman"/>
                <a:ea typeface="Times New Roman"/>
                <a:cs typeface="Times New Roman"/>
                <a:sym typeface="Times New Roman"/>
              </a:rPr>
              <a:t> • Risk of human errors</a:t>
            </a:r>
            <a:br>
              <a:rPr lang="en-US" sz="10000">
                <a:latin typeface="Times New Roman"/>
                <a:ea typeface="Times New Roman"/>
                <a:cs typeface="Times New Roman"/>
                <a:sym typeface="Times New Roman"/>
              </a:rPr>
            </a:br>
            <a:r>
              <a:rPr lang="en-US" sz="10000">
                <a:latin typeface="Times New Roman"/>
                <a:ea typeface="Times New Roman"/>
                <a:cs typeface="Times New Roman"/>
                <a:sym typeface="Times New Roman"/>
              </a:rPr>
              <a:t> • Poor emergency response</a:t>
            </a:r>
            <a:br>
              <a:rPr lang="en-US" sz="10000">
                <a:latin typeface="Times New Roman"/>
                <a:ea typeface="Times New Roman"/>
                <a:cs typeface="Times New Roman"/>
                <a:sym typeface="Times New Roman"/>
              </a:rPr>
            </a:br>
            <a:r>
              <a:rPr lang="en-US" sz="10000">
                <a:latin typeface="Times New Roman"/>
                <a:ea typeface="Times New Roman"/>
                <a:cs typeface="Times New Roman"/>
                <a:sym typeface="Times New Roman"/>
              </a:rPr>
              <a:t> • No live hospital capacity monitoring</a:t>
            </a:r>
            <a:endParaRPr sz="10000">
              <a:latin typeface="Times New Roman"/>
              <a:ea typeface="Times New Roman"/>
              <a:cs typeface="Times New Roman"/>
              <a:sym typeface="Times New Roman"/>
            </a:endParaRPr>
          </a:p>
          <a:p>
            <a:pPr indent="0" lvl="1" marL="117475" rtl="0" algn="just">
              <a:lnSpc>
                <a:spcPct val="90000"/>
              </a:lnSpc>
              <a:spcBef>
                <a:spcPts val="1200"/>
              </a:spcBef>
              <a:spcAft>
                <a:spcPts val="0"/>
              </a:spcAft>
              <a:buClr>
                <a:schemeClr val="dk1"/>
              </a:buClr>
              <a:buSzPct val="96000"/>
              <a:buNone/>
            </a:pPr>
            <a:r>
              <a:t/>
            </a:r>
            <a:endParaRPr sz="2500">
              <a:latin typeface="Times New Roman"/>
              <a:ea typeface="Times New Roman"/>
              <a:cs typeface="Times New Roman"/>
              <a:sym typeface="Times New Roman"/>
            </a:endParaRPr>
          </a:p>
        </p:txBody>
      </p:sp>
      <p:sp>
        <p:nvSpPr>
          <p:cNvPr id="108" name="Google Shape;108;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173030211           Department of CSE</a:t>
            </a:r>
            <a:endParaRPr/>
          </a:p>
        </p:txBody>
      </p:sp>
      <p:sp>
        <p:nvSpPr>
          <p:cNvPr id="109" name="Google Shape;109;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6"/>
          <p:cNvSpPr txBox="1"/>
          <p:nvPr>
            <p:ph type="title"/>
          </p:nvPr>
        </p:nvSpPr>
        <p:spPr>
          <a:xfrm>
            <a:off x="1180618" y="365125"/>
            <a:ext cx="10173182" cy="112800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Proposed System</a:t>
            </a:r>
            <a:endParaRPr/>
          </a:p>
        </p:txBody>
      </p:sp>
      <p:sp>
        <p:nvSpPr>
          <p:cNvPr id="115" name="Google Shape;115;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173030211           Department of CSE</a:t>
            </a:r>
            <a:endParaRPr/>
          </a:p>
        </p:txBody>
      </p:sp>
      <p:sp>
        <p:nvSpPr>
          <p:cNvPr id="116" name="Google Shape;116;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7" name="Google Shape;117;p16"/>
          <p:cNvSpPr txBox="1"/>
          <p:nvPr>
            <p:ph idx="1" type="body"/>
          </p:nvPr>
        </p:nvSpPr>
        <p:spPr>
          <a:xfrm>
            <a:off x="1233911" y="1365581"/>
            <a:ext cx="9579000" cy="5355900"/>
          </a:xfrm>
          <a:prstGeom prst="rect">
            <a:avLst/>
          </a:prstGeom>
          <a:noFill/>
          <a:ln>
            <a:noFill/>
          </a:ln>
        </p:spPr>
        <p:txBody>
          <a:bodyPr anchorCtr="0" anchor="ctr"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lang="en-US" sz="2200">
                <a:latin typeface="Times New Roman"/>
                <a:ea typeface="Times New Roman"/>
                <a:cs typeface="Times New Roman"/>
                <a:sym typeface="Times New Roman"/>
              </a:rPr>
              <a:t>The proposed system is a web-based Hospital Resource Scheduling Management platform that digitizes appointment booking and hospital resource allocation.</a:t>
            </a:r>
            <a:endParaRPr sz="22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200">
                <a:latin typeface="Times New Roman"/>
                <a:ea typeface="Times New Roman"/>
                <a:cs typeface="Times New Roman"/>
                <a:sym typeface="Times New Roman"/>
              </a:rPr>
              <a:t>It provides a centralized dashboard for hospital administrators to manage both standard and critical cases efficiently.</a:t>
            </a:r>
            <a:endParaRPr sz="2200">
              <a:latin typeface="Times New Roman"/>
              <a:ea typeface="Times New Roman"/>
              <a:cs typeface="Times New Roman"/>
              <a:sym typeface="Times New Roman"/>
            </a:endParaRPr>
          </a:p>
          <a:p>
            <a:pPr indent="0" lvl="0" marL="0" rtl="0" algn="l">
              <a:lnSpc>
                <a:spcPct val="115000"/>
              </a:lnSpc>
              <a:spcBef>
                <a:spcPts val="1400"/>
              </a:spcBef>
              <a:spcAft>
                <a:spcPts val="0"/>
              </a:spcAft>
              <a:buClr>
                <a:schemeClr val="dk1"/>
              </a:buClr>
              <a:buSzPts val="1100"/>
              <a:buFont typeface="Arial"/>
              <a:buNone/>
            </a:pPr>
            <a:r>
              <a:rPr b="1" lang="en-US" sz="2200">
                <a:latin typeface="Times New Roman"/>
                <a:ea typeface="Times New Roman"/>
                <a:cs typeface="Times New Roman"/>
                <a:sym typeface="Times New Roman"/>
              </a:rPr>
              <a:t>Key Features:</a:t>
            </a:r>
            <a:endParaRPr b="1" sz="22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200">
                <a:latin typeface="Times New Roman"/>
                <a:ea typeface="Times New Roman"/>
                <a:cs typeface="Times New Roman"/>
                <a:sym typeface="Times New Roman"/>
              </a:rPr>
              <a:t>• Standard patient appointment scheduling</a:t>
            </a:r>
            <a:br>
              <a:rPr lang="en-US" sz="2200">
                <a:latin typeface="Times New Roman"/>
                <a:ea typeface="Times New Roman"/>
                <a:cs typeface="Times New Roman"/>
                <a:sym typeface="Times New Roman"/>
              </a:rPr>
            </a:br>
            <a:r>
              <a:rPr lang="en-US" sz="2200">
                <a:latin typeface="Times New Roman"/>
                <a:ea typeface="Times New Roman"/>
                <a:cs typeface="Times New Roman"/>
                <a:sym typeface="Times New Roman"/>
              </a:rPr>
              <a:t> • Emergency critical resource allocation</a:t>
            </a:r>
            <a:br>
              <a:rPr lang="en-US" sz="2200">
                <a:latin typeface="Times New Roman"/>
                <a:ea typeface="Times New Roman"/>
                <a:cs typeface="Times New Roman"/>
                <a:sym typeface="Times New Roman"/>
              </a:rPr>
            </a:br>
            <a:r>
              <a:rPr lang="en-US" sz="2200">
                <a:latin typeface="Times New Roman"/>
                <a:ea typeface="Times New Roman"/>
                <a:cs typeface="Times New Roman"/>
                <a:sym typeface="Times New Roman"/>
              </a:rPr>
              <a:t> • ICU bed management</a:t>
            </a:r>
            <a:br>
              <a:rPr lang="en-US" sz="2200">
                <a:latin typeface="Times New Roman"/>
                <a:ea typeface="Times New Roman"/>
                <a:cs typeface="Times New Roman"/>
                <a:sym typeface="Times New Roman"/>
              </a:rPr>
            </a:br>
            <a:r>
              <a:rPr lang="en-US" sz="2200">
                <a:latin typeface="Times New Roman"/>
                <a:ea typeface="Times New Roman"/>
                <a:cs typeface="Times New Roman"/>
                <a:sym typeface="Times New Roman"/>
              </a:rPr>
              <a:t> • Ventilator allocation</a:t>
            </a:r>
            <a:br>
              <a:rPr lang="en-US" sz="2200">
                <a:latin typeface="Times New Roman"/>
                <a:ea typeface="Times New Roman"/>
                <a:cs typeface="Times New Roman"/>
                <a:sym typeface="Times New Roman"/>
              </a:rPr>
            </a:br>
            <a:r>
              <a:rPr lang="en-US" sz="2200">
                <a:latin typeface="Times New Roman"/>
                <a:ea typeface="Times New Roman"/>
                <a:cs typeface="Times New Roman"/>
                <a:sym typeface="Times New Roman"/>
              </a:rPr>
              <a:t> • Real-time hospital analytics dashboard</a:t>
            </a:r>
            <a:br>
              <a:rPr lang="en-US" sz="2200">
                <a:latin typeface="Times New Roman"/>
                <a:ea typeface="Times New Roman"/>
                <a:cs typeface="Times New Roman"/>
                <a:sym typeface="Times New Roman"/>
              </a:rPr>
            </a:br>
            <a:r>
              <a:rPr lang="en-US" sz="2200">
                <a:latin typeface="Times New Roman"/>
                <a:ea typeface="Times New Roman"/>
                <a:cs typeface="Times New Roman"/>
                <a:sym typeface="Times New Roman"/>
              </a:rPr>
              <a:t> • Staff allocation based on departments</a:t>
            </a:r>
            <a:endParaRPr sz="2200">
              <a:latin typeface="Times New Roman"/>
              <a:ea typeface="Times New Roman"/>
              <a:cs typeface="Times New Roman"/>
              <a:sym typeface="Times New Roman"/>
            </a:endParaRPr>
          </a:p>
          <a:p>
            <a:pPr indent="0" lvl="0" marL="0" marR="0" rtl="0" algn="l">
              <a:lnSpc>
                <a:spcPct val="100000"/>
              </a:lnSpc>
              <a:spcBef>
                <a:spcPts val="1200"/>
              </a:spcBef>
              <a:spcAft>
                <a:spcPts val="0"/>
              </a:spcAft>
              <a:buClr>
                <a:schemeClr val="dk1"/>
              </a:buClr>
              <a:buSzPts val="2800"/>
              <a:buNone/>
            </a:pPr>
            <a:r>
              <a:t/>
            </a:r>
            <a:endParaRPr sz="22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7"/>
          <p:cNvSpPr txBox="1"/>
          <p:nvPr>
            <p:ph type="title"/>
          </p:nvPr>
        </p:nvSpPr>
        <p:spPr>
          <a:xfrm>
            <a:off x="1009409" y="-14826"/>
            <a:ext cx="10173182" cy="112800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System Architecture</a:t>
            </a:r>
            <a:endParaRPr/>
          </a:p>
        </p:txBody>
      </p:sp>
      <p:sp>
        <p:nvSpPr>
          <p:cNvPr id="123" name="Google Shape;123;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173030211           Department of CSE</a:t>
            </a:r>
            <a:endParaRPr/>
          </a:p>
        </p:txBody>
      </p:sp>
      <p:sp>
        <p:nvSpPr>
          <p:cNvPr id="124" name="Google Shape;124;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25" name="Google Shape;125;p17" title="ChatGPT Image Mar 7, 2026, 08_36_10 PM.png"/>
          <p:cNvPicPr preferRelativeResize="0"/>
          <p:nvPr/>
        </p:nvPicPr>
        <p:blipFill>
          <a:blip r:embed="rId3">
            <a:alphaModFix/>
          </a:blip>
          <a:stretch>
            <a:fillRect/>
          </a:stretch>
        </p:blipFill>
        <p:spPr>
          <a:xfrm>
            <a:off x="4227250" y="1113183"/>
            <a:ext cx="3292244" cy="493836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8"/>
          <p:cNvSpPr txBox="1"/>
          <p:nvPr>
            <p:ph type="title"/>
          </p:nvPr>
        </p:nvSpPr>
        <p:spPr>
          <a:xfrm>
            <a:off x="1180618" y="365125"/>
            <a:ext cx="10173182" cy="112800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Project Modules</a:t>
            </a:r>
            <a:endParaRPr/>
          </a:p>
        </p:txBody>
      </p:sp>
      <p:sp>
        <p:nvSpPr>
          <p:cNvPr id="131" name="Google Shape;131;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173030211           Department of CSE</a:t>
            </a:r>
            <a:endParaRPr/>
          </a:p>
        </p:txBody>
      </p:sp>
      <p:sp>
        <p:nvSpPr>
          <p:cNvPr id="132" name="Google Shape;132;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3" name="Google Shape;133;p18"/>
          <p:cNvSpPr txBox="1"/>
          <p:nvPr>
            <p:ph idx="1" type="body"/>
          </p:nvPr>
        </p:nvSpPr>
        <p:spPr>
          <a:xfrm>
            <a:off x="675861" y="1311849"/>
            <a:ext cx="10677900" cy="4871100"/>
          </a:xfrm>
          <a:prstGeom prst="rect">
            <a:avLst/>
          </a:prstGeom>
          <a:noFill/>
          <a:ln>
            <a:noFill/>
          </a:ln>
        </p:spPr>
        <p:txBody>
          <a:bodyPr anchorCtr="0" anchor="ctr" bIns="45700" lIns="91425" spcFirstLastPara="1" rIns="91425" wrap="square" tIns="45700">
            <a:spAutoFit/>
          </a:bodyPr>
          <a:lstStyle/>
          <a:p>
            <a:pPr indent="0" lvl="0" marL="228600" rtl="0" algn="l">
              <a:lnSpc>
                <a:spcPct val="115000"/>
              </a:lnSpc>
              <a:spcBef>
                <a:spcPts val="1400"/>
              </a:spcBef>
              <a:spcAft>
                <a:spcPts val="0"/>
              </a:spcAft>
              <a:buNone/>
            </a:pPr>
            <a:r>
              <a:rPr b="1" lang="en-US" sz="2400">
                <a:latin typeface="Times New Roman"/>
                <a:ea typeface="Times New Roman"/>
                <a:cs typeface="Times New Roman"/>
                <a:sym typeface="Times New Roman"/>
              </a:rPr>
              <a:t>1️⃣ Login Module</a:t>
            </a:r>
            <a:endParaRPr b="1" sz="2400">
              <a:latin typeface="Times New Roman"/>
              <a:ea typeface="Times New Roman"/>
              <a:cs typeface="Times New Roman"/>
              <a:sym typeface="Times New Roman"/>
            </a:endParaRPr>
          </a:p>
          <a:p>
            <a:pPr indent="0" lvl="0" marL="228600" rtl="0" algn="l">
              <a:lnSpc>
                <a:spcPct val="115000"/>
              </a:lnSpc>
              <a:spcBef>
                <a:spcPts val="1200"/>
              </a:spcBef>
              <a:spcAft>
                <a:spcPts val="0"/>
              </a:spcAft>
              <a:buNone/>
            </a:pPr>
            <a:r>
              <a:rPr lang="en-US" sz="2400">
                <a:latin typeface="Times New Roman"/>
                <a:ea typeface="Times New Roman"/>
                <a:cs typeface="Times New Roman"/>
                <a:sym typeface="Times New Roman"/>
              </a:rPr>
              <a:t>• Secure staff login</a:t>
            </a:r>
            <a:br>
              <a:rPr lang="en-US" sz="2400">
                <a:latin typeface="Times New Roman"/>
                <a:ea typeface="Times New Roman"/>
                <a:cs typeface="Times New Roman"/>
                <a:sym typeface="Times New Roman"/>
              </a:rPr>
            </a:br>
            <a:r>
              <a:rPr lang="en-US" sz="2400">
                <a:latin typeface="Times New Roman"/>
                <a:ea typeface="Times New Roman"/>
                <a:cs typeface="Times New Roman"/>
                <a:sym typeface="Times New Roman"/>
              </a:rPr>
              <a:t> • Authentication interface</a:t>
            </a:r>
            <a:endParaRPr sz="2400">
              <a:latin typeface="Times New Roman"/>
              <a:ea typeface="Times New Roman"/>
              <a:cs typeface="Times New Roman"/>
              <a:sym typeface="Times New Roman"/>
            </a:endParaRPr>
          </a:p>
          <a:p>
            <a:pPr indent="0" lvl="0" marL="228600" rtl="0" algn="l">
              <a:lnSpc>
                <a:spcPct val="115000"/>
              </a:lnSpc>
              <a:spcBef>
                <a:spcPts val="1400"/>
              </a:spcBef>
              <a:spcAft>
                <a:spcPts val="0"/>
              </a:spcAft>
              <a:buNone/>
            </a:pPr>
            <a:r>
              <a:rPr b="1" lang="en-US" sz="2400">
                <a:latin typeface="Times New Roman"/>
                <a:ea typeface="Times New Roman"/>
                <a:cs typeface="Times New Roman"/>
                <a:sym typeface="Times New Roman"/>
              </a:rPr>
              <a:t>2️⃣ Standard Appointment Module</a:t>
            </a:r>
            <a:endParaRPr b="1" sz="2400">
              <a:latin typeface="Times New Roman"/>
              <a:ea typeface="Times New Roman"/>
              <a:cs typeface="Times New Roman"/>
              <a:sym typeface="Times New Roman"/>
            </a:endParaRPr>
          </a:p>
          <a:p>
            <a:pPr indent="0" lvl="0" marL="228600" rtl="0" algn="l">
              <a:lnSpc>
                <a:spcPct val="115000"/>
              </a:lnSpc>
              <a:spcBef>
                <a:spcPts val="1200"/>
              </a:spcBef>
              <a:spcAft>
                <a:spcPts val="0"/>
              </a:spcAft>
              <a:buNone/>
            </a:pPr>
            <a:r>
              <a:rPr lang="en-US" sz="2400">
                <a:latin typeface="Times New Roman"/>
                <a:ea typeface="Times New Roman"/>
                <a:cs typeface="Times New Roman"/>
                <a:sym typeface="Times New Roman"/>
              </a:rPr>
              <a:t>• Book patient appointments</a:t>
            </a:r>
            <a:br>
              <a:rPr lang="en-US" sz="2400">
                <a:latin typeface="Times New Roman"/>
                <a:ea typeface="Times New Roman"/>
                <a:cs typeface="Times New Roman"/>
                <a:sym typeface="Times New Roman"/>
              </a:rPr>
            </a:br>
            <a:r>
              <a:rPr lang="en-US" sz="2400">
                <a:latin typeface="Times New Roman"/>
                <a:ea typeface="Times New Roman"/>
                <a:cs typeface="Times New Roman"/>
                <a:sym typeface="Times New Roman"/>
              </a:rPr>
              <a:t> • Department selection</a:t>
            </a:r>
            <a:br>
              <a:rPr lang="en-US" sz="2400">
                <a:latin typeface="Times New Roman"/>
                <a:ea typeface="Times New Roman"/>
                <a:cs typeface="Times New Roman"/>
                <a:sym typeface="Times New Roman"/>
              </a:rPr>
            </a:br>
            <a:r>
              <a:rPr lang="en-US" sz="2400">
                <a:latin typeface="Times New Roman"/>
                <a:ea typeface="Times New Roman"/>
                <a:cs typeface="Times New Roman"/>
                <a:sym typeface="Times New Roman"/>
              </a:rPr>
              <a:t> • Staff assignment</a:t>
            </a:r>
            <a:br>
              <a:rPr lang="en-US" sz="2400">
                <a:latin typeface="Times New Roman"/>
                <a:ea typeface="Times New Roman"/>
                <a:cs typeface="Times New Roman"/>
                <a:sym typeface="Times New Roman"/>
              </a:rPr>
            </a:br>
            <a:r>
              <a:rPr lang="en-US" sz="2400">
                <a:latin typeface="Times New Roman"/>
                <a:ea typeface="Times New Roman"/>
                <a:cs typeface="Times New Roman"/>
                <a:sym typeface="Times New Roman"/>
              </a:rPr>
              <a:t> • Time slot scheduling</a:t>
            </a:r>
            <a:endParaRPr sz="2400">
              <a:latin typeface="Times New Roman"/>
              <a:ea typeface="Times New Roman"/>
              <a:cs typeface="Times New Roman"/>
              <a:sym typeface="Times New Roman"/>
            </a:endParaRPr>
          </a:p>
          <a:p>
            <a:pPr indent="0" lvl="0" marL="228600" marR="0" rtl="0" algn="l">
              <a:lnSpc>
                <a:spcPct val="100000"/>
              </a:lnSpc>
              <a:spcBef>
                <a:spcPts val="1200"/>
              </a:spcBef>
              <a:spcAft>
                <a:spcPts val="0"/>
              </a:spcAft>
              <a:buNone/>
            </a:pPr>
            <a:r>
              <a:t/>
            </a:r>
            <a:endParaRPr b="1" sz="2400">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800"/>
              <a:buFont typeface="Calibri"/>
              <a:buNone/>
            </a:pPr>
            <a:r>
              <a:t/>
            </a:r>
            <a:endParaRPr i="0" sz="2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9"/>
          <p:cNvSpPr txBox="1"/>
          <p:nvPr>
            <p:ph idx="1" type="body"/>
          </p:nvPr>
        </p:nvSpPr>
        <p:spPr>
          <a:xfrm>
            <a:off x="758300" y="1253325"/>
            <a:ext cx="10515600" cy="43512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US" sz="2500">
                <a:latin typeface="Times New Roman"/>
                <a:ea typeface="Times New Roman"/>
                <a:cs typeface="Times New Roman"/>
                <a:sym typeface="Times New Roman"/>
              </a:rPr>
              <a:t>3️⃣ Emergency Resource Module</a:t>
            </a:r>
            <a:endParaRPr b="1" sz="25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500">
                <a:latin typeface="Times New Roman"/>
                <a:ea typeface="Times New Roman"/>
                <a:cs typeface="Times New Roman"/>
                <a:sym typeface="Times New Roman"/>
              </a:rPr>
              <a:t>• Critical patient entry</a:t>
            </a:r>
            <a:br>
              <a:rPr lang="en-US" sz="2500">
                <a:latin typeface="Times New Roman"/>
                <a:ea typeface="Times New Roman"/>
                <a:cs typeface="Times New Roman"/>
                <a:sym typeface="Times New Roman"/>
              </a:rPr>
            </a:br>
            <a:r>
              <a:rPr lang="en-US" sz="2500">
                <a:latin typeface="Times New Roman"/>
                <a:ea typeface="Times New Roman"/>
                <a:cs typeface="Times New Roman"/>
                <a:sym typeface="Times New Roman"/>
              </a:rPr>
              <a:t> • ICU bed allocation</a:t>
            </a:r>
            <a:br>
              <a:rPr lang="en-US" sz="2500">
                <a:latin typeface="Times New Roman"/>
                <a:ea typeface="Times New Roman"/>
                <a:cs typeface="Times New Roman"/>
                <a:sym typeface="Times New Roman"/>
              </a:rPr>
            </a:br>
            <a:r>
              <a:rPr lang="en-US" sz="2500">
                <a:latin typeface="Times New Roman"/>
                <a:ea typeface="Times New Roman"/>
                <a:cs typeface="Times New Roman"/>
                <a:sym typeface="Times New Roman"/>
              </a:rPr>
              <a:t> • Ventilator allocation</a:t>
            </a:r>
            <a:br>
              <a:rPr lang="en-US" sz="2500">
                <a:latin typeface="Times New Roman"/>
                <a:ea typeface="Times New Roman"/>
                <a:cs typeface="Times New Roman"/>
                <a:sym typeface="Times New Roman"/>
              </a:rPr>
            </a:br>
            <a:r>
              <a:rPr lang="en-US" sz="2500">
                <a:latin typeface="Times New Roman"/>
                <a:ea typeface="Times New Roman"/>
                <a:cs typeface="Times New Roman"/>
                <a:sym typeface="Times New Roman"/>
              </a:rPr>
              <a:t> • Immediate resource deployment</a:t>
            </a:r>
            <a:endParaRPr sz="2500">
              <a:latin typeface="Times New Roman"/>
              <a:ea typeface="Times New Roman"/>
              <a:cs typeface="Times New Roman"/>
              <a:sym typeface="Times New Roman"/>
            </a:endParaRPr>
          </a:p>
          <a:p>
            <a:pPr indent="0" lvl="0" marL="0" rtl="0" algn="l">
              <a:lnSpc>
                <a:spcPct val="115000"/>
              </a:lnSpc>
              <a:spcBef>
                <a:spcPts val="1400"/>
              </a:spcBef>
              <a:spcAft>
                <a:spcPts val="0"/>
              </a:spcAft>
              <a:buClr>
                <a:schemeClr val="dk1"/>
              </a:buClr>
              <a:buSzPts val="1100"/>
              <a:buFont typeface="Arial"/>
              <a:buNone/>
            </a:pPr>
            <a:r>
              <a:rPr b="1" lang="en-US" sz="2500">
                <a:latin typeface="Times New Roman"/>
                <a:ea typeface="Times New Roman"/>
                <a:cs typeface="Times New Roman"/>
                <a:sym typeface="Times New Roman"/>
              </a:rPr>
              <a:t>4️⃣ Resource Monitoring Module</a:t>
            </a:r>
            <a:endParaRPr b="1" sz="25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500">
                <a:latin typeface="Times New Roman"/>
                <a:ea typeface="Times New Roman"/>
                <a:cs typeface="Times New Roman"/>
                <a:sym typeface="Times New Roman"/>
              </a:rPr>
              <a:t>• ICU utilization tracking</a:t>
            </a:r>
            <a:br>
              <a:rPr lang="en-US" sz="2500">
                <a:latin typeface="Times New Roman"/>
                <a:ea typeface="Times New Roman"/>
                <a:cs typeface="Times New Roman"/>
                <a:sym typeface="Times New Roman"/>
              </a:rPr>
            </a:br>
            <a:r>
              <a:rPr lang="en-US" sz="2500">
                <a:latin typeface="Times New Roman"/>
                <a:ea typeface="Times New Roman"/>
                <a:cs typeface="Times New Roman"/>
                <a:sym typeface="Times New Roman"/>
              </a:rPr>
              <a:t> • Ventilator usage tracking</a:t>
            </a:r>
            <a:br>
              <a:rPr lang="en-US" sz="2500">
                <a:latin typeface="Times New Roman"/>
                <a:ea typeface="Times New Roman"/>
                <a:cs typeface="Times New Roman"/>
                <a:sym typeface="Times New Roman"/>
              </a:rPr>
            </a:br>
            <a:r>
              <a:rPr lang="en-US" sz="2500">
                <a:latin typeface="Times New Roman"/>
                <a:ea typeface="Times New Roman"/>
                <a:cs typeface="Times New Roman"/>
                <a:sym typeface="Times New Roman"/>
              </a:rPr>
              <a:t> • Bed availability monitoring</a:t>
            </a:r>
            <a:br>
              <a:rPr lang="en-US" sz="2500">
                <a:latin typeface="Times New Roman"/>
                <a:ea typeface="Times New Roman"/>
                <a:cs typeface="Times New Roman"/>
                <a:sym typeface="Times New Roman"/>
              </a:rPr>
            </a:br>
            <a:r>
              <a:rPr lang="en-US" sz="2500">
                <a:latin typeface="Times New Roman"/>
                <a:ea typeface="Times New Roman"/>
                <a:cs typeface="Times New Roman"/>
                <a:sym typeface="Times New Roman"/>
              </a:rPr>
              <a:t> • Real-time progress indicators</a:t>
            </a:r>
            <a:endParaRPr sz="2500">
              <a:latin typeface="Times New Roman"/>
              <a:ea typeface="Times New Roman"/>
              <a:cs typeface="Times New Roman"/>
              <a:sym typeface="Times New Roman"/>
            </a:endParaRPr>
          </a:p>
          <a:p>
            <a:pPr indent="0" lvl="0" marL="0" rtl="0" algn="l">
              <a:lnSpc>
                <a:spcPct val="90000"/>
              </a:lnSpc>
              <a:spcBef>
                <a:spcPts val="1200"/>
              </a:spcBef>
              <a:spcAft>
                <a:spcPts val="0"/>
              </a:spcAft>
              <a:buClr>
                <a:schemeClr val="dk1"/>
              </a:buClr>
              <a:buSzPts val="2800"/>
              <a:buNone/>
            </a:pPr>
            <a:r>
              <a:t/>
            </a:r>
            <a:endParaRPr sz="2500">
              <a:latin typeface="Times New Roman"/>
              <a:ea typeface="Times New Roman"/>
              <a:cs typeface="Times New Roman"/>
              <a:sym typeface="Times New Roman"/>
            </a:endParaRPr>
          </a:p>
        </p:txBody>
      </p:sp>
      <p:sp>
        <p:nvSpPr>
          <p:cNvPr id="139" name="Google Shape;139;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0th REVIEW         173030211           Department of CSE</a:t>
            </a:r>
            <a:endParaRPr/>
          </a:p>
        </p:txBody>
      </p:sp>
      <p:sp>
        <p:nvSpPr>
          <p:cNvPr id="140" name="Google Shape;140;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0"/>
          <p:cNvSpPr txBox="1"/>
          <p:nvPr>
            <p:ph idx="1" type="body"/>
          </p:nvPr>
        </p:nvSpPr>
        <p:spPr>
          <a:xfrm>
            <a:off x="758300" y="1253325"/>
            <a:ext cx="10515600" cy="43512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US" sz="2500">
                <a:latin typeface="Times New Roman"/>
                <a:ea typeface="Times New Roman"/>
                <a:cs typeface="Times New Roman"/>
                <a:sym typeface="Times New Roman"/>
              </a:rPr>
              <a:t>5️⃣ Patient Management Module</a:t>
            </a:r>
            <a:endParaRPr b="1" sz="25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500">
                <a:latin typeface="Times New Roman"/>
                <a:ea typeface="Times New Roman"/>
                <a:cs typeface="Times New Roman"/>
                <a:sym typeface="Times New Roman"/>
              </a:rPr>
              <a:t>• Live patient list</a:t>
            </a:r>
            <a:br>
              <a:rPr lang="en-US" sz="2500">
                <a:latin typeface="Times New Roman"/>
                <a:ea typeface="Times New Roman"/>
                <a:cs typeface="Times New Roman"/>
                <a:sym typeface="Times New Roman"/>
              </a:rPr>
            </a:br>
            <a:r>
              <a:rPr lang="en-US" sz="2500">
                <a:latin typeface="Times New Roman"/>
                <a:ea typeface="Times New Roman"/>
                <a:cs typeface="Times New Roman"/>
                <a:sym typeface="Times New Roman"/>
              </a:rPr>
              <a:t> • Triage categorization</a:t>
            </a:r>
            <a:br>
              <a:rPr lang="en-US" sz="2500">
                <a:latin typeface="Times New Roman"/>
                <a:ea typeface="Times New Roman"/>
                <a:cs typeface="Times New Roman"/>
                <a:sym typeface="Times New Roman"/>
              </a:rPr>
            </a:br>
            <a:r>
              <a:rPr lang="en-US" sz="2500">
                <a:latin typeface="Times New Roman"/>
                <a:ea typeface="Times New Roman"/>
                <a:cs typeface="Times New Roman"/>
                <a:sym typeface="Times New Roman"/>
              </a:rPr>
              <a:t> • Release patient option</a:t>
            </a:r>
            <a:endParaRPr sz="2500">
              <a:latin typeface="Times New Roman"/>
              <a:ea typeface="Times New Roman"/>
              <a:cs typeface="Times New Roman"/>
              <a:sym typeface="Times New Roman"/>
            </a:endParaRPr>
          </a:p>
          <a:p>
            <a:pPr indent="0" lvl="0" marL="0" rtl="0" algn="l">
              <a:lnSpc>
                <a:spcPct val="90000"/>
              </a:lnSpc>
              <a:spcBef>
                <a:spcPts val="1200"/>
              </a:spcBef>
              <a:spcAft>
                <a:spcPts val="0"/>
              </a:spcAft>
              <a:buClr>
                <a:schemeClr val="dk1"/>
              </a:buClr>
              <a:buSzPts val="2800"/>
              <a:buNone/>
            </a:pPr>
            <a:r>
              <a:t/>
            </a:r>
            <a:endParaRPr b="1" sz="2500">
              <a:latin typeface="Times New Roman"/>
              <a:ea typeface="Times New Roman"/>
              <a:cs typeface="Times New Roman"/>
              <a:sym typeface="Times New Roman"/>
            </a:endParaRPr>
          </a:p>
        </p:txBody>
      </p:sp>
      <p:sp>
        <p:nvSpPr>
          <p:cNvPr id="146" name="Google Shape;146;p2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0th REVIEW         173030211           Department of CSE</a:t>
            </a:r>
            <a:endParaRPr/>
          </a:p>
        </p:txBody>
      </p:sp>
      <p:sp>
        <p:nvSpPr>
          <p:cNvPr id="147" name="Google Shape;147;p2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1"/>
          <p:cNvSpPr txBox="1"/>
          <p:nvPr>
            <p:ph type="title"/>
          </p:nvPr>
        </p:nvSpPr>
        <p:spPr>
          <a:xfrm>
            <a:off x="1180618" y="365125"/>
            <a:ext cx="10173182" cy="112800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Objectives</a:t>
            </a:r>
            <a:endParaRPr/>
          </a:p>
        </p:txBody>
      </p:sp>
      <p:sp>
        <p:nvSpPr>
          <p:cNvPr id="153" name="Google Shape;153;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173030211           Department of CSE</a:t>
            </a:r>
            <a:endParaRPr/>
          </a:p>
        </p:txBody>
      </p:sp>
      <p:sp>
        <p:nvSpPr>
          <p:cNvPr id="154" name="Google Shape;154;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5" name="Google Shape;155;p21"/>
          <p:cNvSpPr txBox="1"/>
          <p:nvPr>
            <p:ph idx="1" type="body"/>
          </p:nvPr>
        </p:nvSpPr>
        <p:spPr>
          <a:xfrm>
            <a:off x="1435557" y="1734369"/>
            <a:ext cx="9321000" cy="1631700"/>
          </a:xfrm>
          <a:prstGeom prst="rect">
            <a:avLst/>
          </a:prstGeom>
          <a:noFill/>
          <a:ln>
            <a:noFill/>
          </a:ln>
        </p:spPr>
        <p:txBody>
          <a:bodyPr anchorCtr="0" anchor="ctr" bIns="45700" lIns="91425" spcFirstLastPara="1" rIns="91425" wrap="square" tIns="45700">
            <a:spAutoFit/>
          </a:bodyPr>
          <a:lstStyle/>
          <a:p>
            <a:pPr indent="0" lvl="0" marL="228600" rtl="0" algn="l">
              <a:lnSpc>
                <a:spcPct val="100000"/>
              </a:lnSpc>
              <a:spcBef>
                <a:spcPts val="0"/>
              </a:spcBef>
              <a:spcAft>
                <a:spcPts val="0"/>
              </a:spcAft>
              <a:buClr>
                <a:schemeClr val="dk1"/>
              </a:buClr>
              <a:buSzPts val="1100"/>
              <a:buFont typeface="Arial"/>
              <a:buNone/>
            </a:pPr>
            <a:r>
              <a:rPr lang="en-US" sz="2500">
                <a:latin typeface="Times New Roman"/>
                <a:ea typeface="Times New Roman"/>
                <a:cs typeface="Times New Roman"/>
                <a:sym typeface="Times New Roman"/>
              </a:rPr>
              <a:t>• To digitize hospital appointment scheduling</a:t>
            </a:r>
            <a:endParaRPr sz="2500">
              <a:latin typeface="Times New Roman"/>
              <a:ea typeface="Times New Roman"/>
              <a:cs typeface="Times New Roman"/>
              <a:sym typeface="Times New Roman"/>
            </a:endParaRPr>
          </a:p>
          <a:p>
            <a:pPr indent="0" lvl="0" marL="228600" rtl="0" algn="l">
              <a:lnSpc>
                <a:spcPct val="100000"/>
              </a:lnSpc>
              <a:spcBef>
                <a:spcPts val="0"/>
              </a:spcBef>
              <a:spcAft>
                <a:spcPts val="0"/>
              </a:spcAft>
              <a:buClr>
                <a:schemeClr val="dk1"/>
              </a:buClr>
              <a:buSzPts val="1100"/>
              <a:buFont typeface="Arial"/>
              <a:buNone/>
            </a:pPr>
            <a:r>
              <a:rPr lang="en-US" sz="2500">
                <a:latin typeface="Times New Roman"/>
                <a:ea typeface="Times New Roman"/>
                <a:cs typeface="Times New Roman"/>
                <a:sym typeface="Times New Roman"/>
              </a:rPr>
              <a:t>• To manage hospital resources efficiently</a:t>
            </a:r>
            <a:endParaRPr sz="2500">
              <a:latin typeface="Times New Roman"/>
              <a:ea typeface="Times New Roman"/>
              <a:cs typeface="Times New Roman"/>
              <a:sym typeface="Times New Roman"/>
            </a:endParaRPr>
          </a:p>
          <a:p>
            <a:pPr indent="0" lvl="0" marL="228600" rtl="0" algn="l">
              <a:lnSpc>
                <a:spcPct val="100000"/>
              </a:lnSpc>
              <a:spcBef>
                <a:spcPts val="0"/>
              </a:spcBef>
              <a:spcAft>
                <a:spcPts val="0"/>
              </a:spcAft>
              <a:buClr>
                <a:schemeClr val="dk1"/>
              </a:buClr>
              <a:buSzPts val="1100"/>
              <a:buFont typeface="Arial"/>
              <a:buNone/>
            </a:pPr>
            <a:r>
              <a:rPr lang="en-US" sz="2500">
                <a:latin typeface="Times New Roman"/>
                <a:ea typeface="Times New Roman"/>
                <a:cs typeface="Times New Roman"/>
                <a:sym typeface="Times New Roman"/>
              </a:rPr>
              <a:t>• To reduce manual workload of hospital staff</a:t>
            </a:r>
            <a:endParaRPr sz="2500">
              <a:latin typeface="Times New Roman"/>
              <a:ea typeface="Times New Roman"/>
              <a:cs typeface="Times New Roman"/>
              <a:sym typeface="Times New Roman"/>
            </a:endParaRPr>
          </a:p>
          <a:p>
            <a:pPr indent="0" lvl="0" marL="228600" marR="0" rtl="0" algn="l">
              <a:lnSpc>
                <a:spcPct val="100000"/>
              </a:lnSpc>
              <a:spcBef>
                <a:spcPts val="0"/>
              </a:spcBef>
              <a:spcAft>
                <a:spcPts val="0"/>
              </a:spcAft>
              <a:buNone/>
            </a:pPr>
            <a:r>
              <a:rPr lang="en-US" sz="2500">
                <a:latin typeface="Times New Roman"/>
                <a:ea typeface="Times New Roman"/>
                <a:cs typeface="Times New Roman"/>
                <a:sym typeface="Times New Roman"/>
              </a:rPr>
              <a:t>• To provide a centralized dashboard for hospital operations</a:t>
            </a:r>
            <a:endParaRPr sz="25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2"/>
          <p:cNvSpPr txBox="1"/>
          <p:nvPr>
            <p:ph type="title"/>
          </p:nvPr>
        </p:nvSpPr>
        <p:spPr>
          <a:xfrm>
            <a:off x="1180618" y="365125"/>
            <a:ext cx="10173300" cy="11280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Co’s Attainments - FWD</a:t>
            </a:r>
            <a:endParaRPr/>
          </a:p>
        </p:txBody>
      </p:sp>
      <p:sp>
        <p:nvSpPr>
          <p:cNvPr id="161" name="Google Shape;161;p22"/>
          <p:cNvSpPr txBox="1"/>
          <p:nvPr>
            <p:ph idx="1" type="body"/>
          </p:nvPr>
        </p:nvSpPr>
        <p:spPr>
          <a:xfrm>
            <a:off x="838200" y="1386200"/>
            <a:ext cx="10515600" cy="43512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US" sz="2500">
                <a:latin typeface="Times New Roman"/>
                <a:ea typeface="Times New Roman"/>
                <a:cs typeface="Times New Roman"/>
                <a:sym typeface="Times New Roman"/>
              </a:rPr>
              <a:t>CO1 – Web Fundamentals</a:t>
            </a:r>
            <a:endParaRPr b="1" sz="25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500">
                <a:latin typeface="Times New Roman"/>
                <a:ea typeface="Times New Roman"/>
                <a:cs typeface="Times New Roman"/>
                <a:sym typeface="Times New Roman"/>
              </a:rPr>
              <a:t>Implemented web architecture and browser-based system.</a:t>
            </a:r>
            <a:endParaRPr sz="2500">
              <a:latin typeface="Times New Roman"/>
              <a:ea typeface="Times New Roman"/>
              <a:cs typeface="Times New Roman"/>
              <a:sym typeface="Times New Roman"/>
            </a:endParaRPr>
          </a:p>
          <a:p>
            <a:pPr indent="0" lvl="0" marL="0" rtl="0" algn="l">
              <a:lnSpc>
                <a:spcPct val="115000"/>
              </a:lnSpc>
              <a:spcBef>
                <a:spcPts val="1400"/>
              </a:spcBef>
              <a:spcAft>
                <a:spcPts val="0"/>
              </a:spcAft>
              <a:buClr>
                <a:schemeClr val="dk1"/>
              </a:buClr>
              <a:buSzPts val="1100"/>
              <a:buFont typeface="Arial"/>
              <a:buNone/>
            </a:pPr>
            <a:r>
              <a:rPr b="1" lang="en-US" sz="2500">
                <a:latin typeface="Times New Roman"/>
                <a:ea typeface="Times New Roman"/>
                <a:cs typeface="Times New Roman"/>
                <a:sym typeface="Times New Roman"/>
              </a:rPr>
              <a:t>CO2 – HTML Forms &amp; Semantic Content</a:t>
            </a:r>
            <a:endParaRPr b="1" sz="25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500">
                <a:latin typeface="Times New Roman"/>
                <a:ea typeface="Times New Roman"/>
                <a:cs typeface="Times New Roman"/>
                <a:sym typeface="Times New Roman"/>
              </a:rPr>
              <a:t>Designed forms for appointments and emergency cases.</a:t>
            </a:r>
            <a:endParaRPr sz="2500">
              <a:latin typeface="Times New Roman"/>
              <a:ea typeface="Times New Roman"/>
              <a:cs typeface="Times New Roman"/>
              <a:sym typeface="Times New Roman"/>
            </a:endParaRPr>
          </a:p>
          <a:p>
            <a:pPr indent="0" lvl="0" marL="0" rtl="0" algn="l">
              <a:lnSpc>
                <a:spcPct val="115000"/>
              </a:lnSpc>
              <a:spcBef>
                <a:spcPts val="1400"/>
              </a:spcBef>
              <a:spcAft>
                <a:spcPts val="0"/>
              </a:spcAft>
              <a:buClr>
                <a:schemeClr val="dk1"/>
              </a:buClr>
              <a:buSzPts val="1100"/>
              <a:buFont typeface="Arial"/>
              <a:buNone/>
            </a:pPr>
            <a:r>
              <a:rPr b="1" lang="en-US" sz="2500">
                <a:latin typeface="Times New Roman"/>
                <a:ea typeface="Times New Roman"/>
                <a:cs typeface="Times New Roman"/>
                <a:sym typeface="Times New Roman"/>
              </a:rPr>
              <a:t>CO3 – CSS Layouts &amp; Styling</a:t>
            </a:r>
            <a:endParaRPr b="1" sz="25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500">
                <a:latin typeface="Times New Roman"/>
                <a:ea typeface="Times New Roman"/>
                <a:cs typeface="Times New Roman"/>
                <a:sym typeface="Times New Roman"/>
              </a:rPr>
              <a:t>Created professional dashboard UI using modern layouts.</a:t>
            </a:r>
            <a:endParaRPr sz="2500">
              <a:latin typeface="Times New Roman"/>
              <a:ea typeface="Times New Roman"/>
              <a:cs typeface="Times New Roman"/>
              <a:sym typeface="Times New Roman"/>
            </a:endParaRPr>
          </a:p>
          <a:p>
            <a:pPr indent="0" lvl="1" marL="457200" rtl="0" algn="l">
              <a:lnSpc>
                <a:spcPct val="90000"/>
              </a:lnSpc>
              <a:spcBef>
                <a:spcPts val="1200"/>
              </a:spcBef>
              <a:spcAft>
                <a:spcPts val="0"/>
              </a:spcAft>
              <a:buClr>
                <a:schemeClr val="dk1"/>
              </a:buClr>
              <a:buSzPts val="2500"/>
              <a:buNone/>
            </a:pPr>
            <a:r>
              <a:t/>
            </a:r>
            <a:endParaRPr sz="2500">
              <a:latin typeface="Times New Roman"/>
              <a:ea typeface="Times New Roman"/>
              <a:cs typeface="Times New Roman"/>
              <a:sym typeface="Times New Roman"/>
            </a:endParaRPr>
          </a:p>
        </p:txBody>
      </p:sp>
      <p:sp>
        <p:nvSpPr>
          <p:cNvPr id="162" name="Google Shape;162;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173030211           Department of CSE</a:t>
            </a:r>
            <a:endParaRPr/>
          </a:p>
        </p:txBody>
      </p:sp>
      <p:sp>
        <p:nvSpPr>
          <p:cNvPr id="163" name="Google Shape;163;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3"/>
          <p:cNvSpPr txBox="1"/>
          <p:nvPr>
            <p:ph type="title"/>
          </p:nvPr>
        </p:nvSpPr>
        <p:spPr>
          <a:xfrm>
            <a:off x="1180618" y="365125"/>
            <a:ext cx="10173300" cy="11280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Co’s Attainments - FWD</a:t>
            </a:r>
            <a:endParaRPr/>
          </a:p>
        </p:txBody>
      </p:sp>
      <p:sp>
        <p:nvSpPr>
          <p:cNvPr id="169" name="Google Shape;169;p23"/>
          <p:cNvSpPr txBox="1"/>
          <p:nvPr>
            <p:ph idx="1" type="body"/>
          </p:nvPr>
        </p:nvSpPr>
        <p:spPr>
          <a:xfrm>
            <a:off x="838200" y="1386200"/>
            <a:ext cx="10515600" cy="43512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US" sz="2500">
                <a:latin typeface="Times New Roman"/>
                <a:ea typeface="Times New Roman"/>
                <a:cs typeface="Times New Roman"/>
                <a:sym typeface="Times New Roman"/>
              </a:rPr>
              <a:t>CO4 – JavaScript Programming</a:t>
            </a:r>
            <a:endParaRPr b="1" sz="25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500">
                <a:latin typeface="Times New Roman"/>
                <a:ea typeface="Times New Roman"/>
                <a:cs typeface="Times New Roman"/>
                <a:sym typeface="Times New Roman"/>
              </a:rPr>
              <a:t>Implemented logic for scheduling and calculations.</a:t>
            </a:r>
            <a:endParaRPr sz="2500">
              <a:latin typeface="Times New Roman"/>
              <a:ea typeface="Times New Roman"/>
              <a:cs typeface="Times New Roman"/>
              <a:sym typeface="Times New Roman"/>
            </a:endParaRPr>
          </a:p>
          <a:p>
            <a:pPr indent="0" lvl="0" marL="0" rtl="0" algn="l">
              <a:lnSpc>
                <a:spcPct val="115000"/>
              </a:lnSpc>
              <a:spcBef>
                <a:spcPts val="1400"/>
              </a:spcBef>
              <a:spcAft>
                <a:spcPts val="0"/>
              </a:spcAft>
              <a:buClr>
                <a:schemeClr val="dk1"/>
              </a:buClr>
              <a:buSzPts val="1100"/>
              <a:buFont typeface="Arial"/>
              <a:buNone/>
            </a:pPr>
            <a:r>
              <a:rPr b="1" lang="en-US" sz="2500">
                <a:latin typeface="Times New Roman"/>
                <a:ea typeface="Times New Roman"/>
                <a:cs typeface="Times New Roman"/>
                <a:sym typeface="Times New Roman"/>
              </a:rPr>
              <a:t>CO5 – JavaScript Interactivity &amp; Deployment</a:t>
            </a:r>
            <a:endParaRPr b="1" sz="25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500">
                <a:latin typeface="Times New Roman"/>
                <a:ea typeface="Times New Roman"/>
                <a:cs typeface="Times New Roman"/>
                <a:sym typeface="Times New Roman"/>
              </a:rPr>
              <a:t>Enabled real-time dashboard updates and resource tracking.</a:t>
            </a:r>
            <a:endParaRPr sz="2500">
              <a:latin typeface="Times New Roman"/>
              <a:ea typeface="Times New Roman"/>
              <a:cs typeface="Times New Roman"/>
              <a:sym typeface="Times New Roman"/>
            </a:endParaRPr>
          </a:p>
          <a:p>
            <a:pPr indent="0" lvl="1" marL="457200" rtl="0" algn="l">
              <a:lnSpc>
                <a:spcPct val="90000"/>
              </a:lnSpc>
              <a:spcBef>
                <a:spcPts val="1200"/>
              </a:spcBef>
              <a:spcAft>
                <a:spcPts val="0"/>
              </a:spcAft>
              <a:buClr>
                <a:schemeClr val="dk1"/>
              </a:buClr>
              <a:buSzPts val="2500"/>
              <a:buNone/>
            </a:pPr>
            <a:r>
              <a:t/>
            </a:r>
            <a:endParaRPr b="1" sz="2500">
              <a:latin typeface="Times New Roman"/>
              <a:ea typeface="Times New Roman"/>
              <a:cs typeface="Times New Roman"/>
              <a:sym typeface="Times New Roman"/>
            </a:endParaRPr>
          </a:p>
        </p:txBody>
      </p:sp>
      <p:sp>
        <p:nvSpPr>
          <p:cNvPr id="170" name="Google Shape;170;p2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173030211           Department of CSE</a:t>
            </a:r>
            <a:endParaRPr/>
          </a:p>
        </p:txBody>
      </p:sp>
      <p:sp>
        <p:nvSpPr>
          <p:cNvPr id="171" name="Google Shape;171;p2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Screenshots for FWD </a:t>
            </a:r>
            <a:endParaRPr/>
          </a:p>
        </p:txBody>
      </p:sp>
      <p:sp>
        <p:nvSpPr>
          <p:cNvPr id="177" name="Google Shape;177;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07-03-2026</a:t>
            </a:r>
            <a:endParaRPr/>
          </a:p>
        </p:txBody>
      </p:sp>
      <p:sp>
        <p:nvSpPr>
          <p:cNvPr id="178" name="Google Shape;178;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173030211           Department of CSE</a:t>
            </a:r>
            <a:endParaRPr/>
          </a:p>
        </p:txBody>
      </p:sp>
      <p:sp>
        <p:nvSpPr>
          <p:cNvPr id="179" name="Google Shape;179;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80" name="Google Shape;180;p24"/>
          <p:cNvPicPr preferRelativeResize="0"/>
          <p:nvPr/>
        </p:nvPicPr>
        <p:blipFill>
          <a:blip r:embed="rId3">
            <a:alphaModFix/>
          </a:blip>
          <a:stretch>
            <a:fillRect/>
          </a:stretch>
        </p:blipFill>
        <p:spPr>
          <a:xfrm>
            <a:off x="1164450" y="1563438"/>
            <a:ext cx="9155904" cy="436086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07-03-2026</a:t>
            </a:r>
            <a:endParaRPr/>
          </a:p>
        </p:txBody>
      </p:sp>
      <p:sp>
        <p:nvSpPr>
          <p:cNvPr id="186" name="Google Shape;186;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0th REVIEW         173030211           Department of CSE</a:t>
            </a:r>
            <a:endParaRPr/>
          </a:p>
        </p:txBody>
      </p:sp>
      <p:sp>
        <p:nvSpPr>
          <p:cNvPr id="187" name="Google Shape;187;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88" name="Google Shape;188;p25"/>
          <p:cNvPicPr preferRelativeResize="0"/>
          <p:nvPr/>
        </p:nvPicPr>
        <p:blipFill>
          <a:blip r:embed="rId3">
            <a:alphaModFix/>
          </a:blip>
          <a:stretch>
            <a:fillRect/>
          </a:stretch>
        </p:blipFill>
        <p:spPr>
          <a:xfrm>
            <a:off x="152400" y="886638"/>
            <a:ext cx="11887202" cy="546972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07-03-2026</a:t>
            </a:r>
            <a:endParaRPr/>
          </a:p>
        </p:txBody>
      </p:sp>
      <p:sp>
        <p:nvSpPr>
          <p:cNvPr id="194" name="Google Shape;194;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0th REVIEW         173030211           Department of CSE</a:t>
            </a:r>
            <a:endParaRPr/>
          </a:p>
        </p:txBody>
      </p:sp>
      <p:sp>
        <p:nvSpPr>
          <p:cNvPr id="195" name="Google Shape;195;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96" name="Google Shape;196;p26"/>
          <p:cNvPicPr preferRelativeResize="0"/>
          <p:nvPr/>
        </p:nvPicPr>
        <p:blipFill>
          <a:blip r:embed="rId3">
            <a:alphaModFix/>
          </a:blip>
          <a:stretch>
            <a:fillRect/>
          </a:stretch>
        </p:blipFill>
        <p:spPr>
          <a:xfrm>
            <a:off x="218975" y="635288"/>
            <a:ext cx="11887202" cy="558741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7"/>
          <p:cNvSpPr txBox="1"/>
          <p:nvPr>
            <p:ph type="title"/>
          </p:nvPr>
        </p:nvSpPr>
        <p:spPr>
          <a:xfrm>
            <a:off x="1180618" y="365125"/>
            <a:ext cx="10173182" cy="112800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Conclusion</a:t>
            </a:r>
            <a:endParaRPr/>
          </a:p>
        </p:txBody>
      </p:sp>
      <p:sp>
        <p:nvSpPr>
          <p:cNvPr id="202" name="Google Shape;202;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Clr>
                <a:schemeClr val="dk1"/>
              </a:buClr>
              <a:buSzPts val="2800"/>
              <a:buNone/>
            </a:pPr>
            <a:r>
              <a:rPr lang="en-US" sz="2500">
                <a:latin typeface="Times New Roman"/>
                <a:ea typeface="Times New Roman"/>
                <a:cs typeface="Times New Roman"/>
                <a:sym typeface="Times New Roman"/>
              </a:rPr>
              <a:t>This project successfully developed a Hospital Resource Scheduling Management System using HTML, CSS, and JavaScript that streamlines patient appointment booking, emergency resource allocation, and real-time monitoring of hospital resources. The system improves operational efficiency by reducing manual workload and providing a centralized dashboard for managing hospital activities, demonstrating how web technologies can effectively address real-world healthcare management needs.</a:t>
            </a:r>
            <a:endParaRPr sz="2500">
              <a:latin typeface="Times New Roman"/>
              <a:ea typeface="Times New Roman"/>
              <a:cs typeface="Times New Roman"/>
              <a:sym typeface="Times New Roman"/>
            </a:endParaRPr>
          </a:p>
        </p:txBody>
      </p:sp>
      <p:sp>
        <p:nvSpPr>
          <p:cNvPr id="203" name="Google Shape;203;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07-03-2026</a:t>
            </a:r>
            <a:endParaRPr/>
          </a:p>
        </p:txBody>
      </p:sp>
      <p:sp>
        <p:nvSpPr>
          <p:cNvPr id="204" name="Google Shape;204;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173030211           Department of CSE</a:t>
            </a:r>
            <a:endParaRPr/>
          </a:p>
        </p:txBody>
      </p:sp>
      <p:sp>
        <p:nvSpPr>
          <p:cNvPr id="205" name="Google Shape;205;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Geo- Tag Photos</a:t>
            </a:r>
            <a:endParaRPr/>
          </a:p>
        </p:txBody>
      </p:sp>
      <p:sp>
        <p:nvSpPr>
          <p:cNvPr id="211" name="Google Shape;211;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07-03-2026</a:t>
            </a:r>
            <a:endParaRPr/>
          </a:p>
        </p:txBody>
      </p:sp>
      <p:sp>
        <p:nvSpPr>
          <p:cNvPr id="212" name="Google Shape;212;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173030211           Department of CSE</a:t>
            </a:r>
            <a:endParaRPr/>
          </a:p>
        </p:txBody>
      </p:sp>
      <p:sp>
        <p:nvSpPr>
          <p:cNvPr id="213" name="Google Shape;213;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14" name="Google Shape;214;p28"/>
          <p:cNvPicPr preferRelativeResize="0"/>
          <p:nvPr/>
        </p:nvPicPr>
        <p:blipFill>
          <a:blip r:embed="rId3">
            <a:alphaModFix/>
          </a:blip>
          <a:stretch>
            <a:fillRect/>
          </a:stretch>
        </p:blipFill>
        <p:spPr>
          <a:xfrm>
            <a:off x="2364275" y="1604763"/>
            <a:ext cx="3374600" cy="44380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9"/>
          <p:cNvSpPr txBox="1"/>
          <p:nvPr>
            <p:ph idx="1" type="body"/>
          </p:nvPr>
        </p:nvSpPr>
        <p:spPr>
          <a:xfrm>
            <a:off x="838200" y="740780"/>
            <a:ext cx="10515600" cy="543618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t/>
            </a:r>
            <a:endParaRPr/>
          </a:p>
          <a:p>
            <a:pPr indent="0" lvl="0" marL="0" rtl="0" algn="ctr">
              <a:lnSpc>
                <a:spcPct val="90000"/>
              </a:lnSpc>
              <a:spcBef>
                <a:spcPts val="1000"/>
              </a:spcBef>
              <a:spcAft>
                <a:spcPts val="0"/>
              </a:spcAft>
              <a:buClr>
                <a:schemeClr val="dk1"/>
              </a:buClr>
              <a:buSzPts val="4400"/>
              <a:buNone/>
            </a:pPr>
            <a:r>
              <a:t/>
            </a:r>
            <a:endParaRPr sz="4400"/>
          </a:p>
          <a:p>
            <a:pPr indent="0" lvl="0" marL="0" rtl="0" algn="ctr">
              <a:lnSpc>
                <a:spcPct val="90000"/>
              </a:lnSpc>
              <a:spcBef>
                <a:spcPts val="1000"/>
              </a:spcBef>
              <a:spcAft>
                <a:spcPts val="0"/>
              </a:spcAft>
              <a:buClr>
                <a:schemeClr val="dk1"/>
              </a:buClr>
              <a:buSzPts val="4400"/>
              <a:buNone/>
            </a:pPr>
            <a:r>
              <a:t/>
            </a:r>
            <a:endParaRPr sz="4400"/>
          </a:p>
          <a:p>
            <a:pPr indent="0" lvl="0" marL="0" rtl="0" algn="ctr">
              <a:lnSpc>
                <a:spcPct val="90000"/>
              </a:lnSpc>
              <a:spcBef>
                <a:spcPts val="1000"/>
              </a:spcBef>
              <a:spcAft>
                <a:spcPts val="0"/>
              </a:spcAft>
              <a:buClr>
                <a:schemeClr val="dk1"/>
              </a:buClr>
              <a:buSzPts val="4400"/>
              <a:buNone/>
            </a:pPr>
            <a:r>
              <a:rPr lang="en-US" sz="4400"/>
              <a:t>THANK YOU</a:t>
            </a:r>
            <a:endParaRPr/>
          </a:p>
        </p:txBody>
      </p:sp>
      <p:sp>
        <p:nvSpPr>
          <p:cNvPr id="220" name="Google Shape;220;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07-03-2026</a:t>
            </a:r>
            <a:endParaRPr/>
          </a:p>
        </p:txBody>
      </p:sp>
      <p:sp>
        <p:nvSpPr>
          <p:cNvPr id="221" name="Google Shape;221;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173030211           Department of CSE</a:t>
            </a:r>
            <a:endParaRPr/>
          </a:p>
        </p:txBody>
      </p:sp>
      <p:sp>
        <p:nvSpPr>
          <p:cNvPr id="222" name="Google Shape;222;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